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7" r:id="rId11"/>
    <p:sldId id="270" r:id="rId12"/>
    <p:sldId id="271" r:id="rId13"/>
    <p:sldId id="272"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85495" y="2694305"/>
            <a:ext cx="10425430" cy="836930"/>
          </a:xfrm>
        </p:spPr>
        <p:txBody>
          <a:bodyPr>
            <a:normAutofit fontScale="90000"/>
          </a:bodyPr>
          <a:lstStyle/>
          <a:p>
            <a:r>
              <a:rPr lang="en-US" sz="5400" b="1" dirty="0">
                <a:latin typeface="Times New Roman Bold" panose="02020503050405090304" charset="0"/>
                <a:cs typeface="Times New Roman Bold" panose="02020503050405090304" charset="0"/>
              </a:rPr>
              <a:t>Title Page</a:t>
            </a:r>
            <a:br>
              <a:rPr lang="en-US" sz="5400" b="1" dirty="0">
                <a:latin typeface="Times New Roman Bold" panose="02020503050405090304" charset="0"/>
                <a:cs typeface="Times New Roman Bold" panose="02020503050405090304" charset="0"/>
              </a:rPr>
            </a:br>
            <a:r>
              <a:rPr lang="en-US" sz="5400" b="1" dirty="0">
                <a:latin typeface="Times New Roman Bold" panose="02020503050405090304" charset="0"/>
                <a:cs typeface="Times New Roman Bold" panose="02020503050405090304" charset="0"/>
              </a:rPr>
              <a:t>Project Title: “Examination Seating Arraganement System”</a:t>
            </a:r>
            <a:br>
              <a:rPr lang="en-US" sz="5400" b="1" dirty="0">
                <a:latin typeface="Times New Roman Bold" panose="02020503050405090304" charset="0"/>
                <a:cs typeface="Times New Roman Bold" panose="02020503050405090304" charset="0"/>
              </a:rPr>
            </a:br>
            <a:br>
              <a:rPr lang="en-US" sz="5400" dirty="0">
                <a:latin typeface="Times New Roman Regular" panose="02020503050405090304" charset="0"/>
                <a:cs typeface="Times New Roman Regular" panose="02020503050405090304" charset="0"/>
              </a:rPr>
            </a:br>
            <a:endParaRPr lang="en-US" altLang="en-US" sz="4445" dirty="0">
              <a:solidFill>
                <a:schemeClr val="tx1"/>
              </a:solidFill>
              <a:latin typeface="Times New Roman" panose="02020503050405090304" charset="0"/>
              <a:cs typeface="Times New Roman" panose="02020503050405090304" charset="0"/>
            </a:endParaRPr>
          </a:p>
        </p:txBody>
      </p:sp>
      <p:sp>
        <p:nvSpPr>
          <p:cNvPr id="3" name="Subtitle 2"/>
          <p:cNvSpPr>
            <a:spLocks noGrp="1"/>
          </p:cNvSpPr>
          <p:nvPr>
            <p:ph type="subTitle" idx="1"/>
          </p:nvPr>
        </p:nvSpPr>
        <p:spPr>
          <a:xfrm>
            <a:off x="6464935" y="2694305"/>
            <a:ext cx="5624830" cy="3532505"/>
          </a:xfrm>
        </p:spPr>
        <p:txBody>
          <a:bodyPr>
            <a:normAutofit fontScale="90000"/>
          </a:bodyPr>
          <a:lstStyle/>
          <a:p>
            <a:pPr algn="l"/>
            <a:r>
              <a:rPr lang="en-US" sz="3000" b="1">
                <a:latin typeface="Times New Roman Bold" panose="02020503050405090304" charset="0"/>
                <a:cs typeface="Times New Roman Bold" panose="02020503050405090304" charset="0"/>
              </a:rPr>
              <a:t>          </a:t>
            </a:r>
            <a:endParaRPr lang="en-US">
              <a:latin typeface="Times New Roman Regular" panose="02020503050405090304" charset="0"/>
              <a:cs typeface="Times New Roman Regular" panose="02020503050405090304" charset="0"/>
            </a:endParaRPr>
          </a:p>
          <a:p>
            <a:pPr algn="l"/>
            <a:endParaRPr lang="en-US">
              <a:latin typeface="Times New Roman Regular" panose="02020503050405090304" charset="0"/>
              <a:cs typeface="Times New Roman Regular" panose="02020503050405090304" charset="0"/>
            </a:endParaRPr>
          </a:p>
          <a:p>
            <a:pPr algn="l"/>
            <a:endParaRPr lang="en-US">
              <a:latin typeface="Times New Roman Regular" panose="02020503050405090304" charset="0"/>
              <a:cs typeface="Times New Roman Regular" panose="02020503050405090304" charset="0"/>
            </a:endParaRPr>
          </a:p>
          <a:p>
            <a:pPr algn="l"/>
            <a:endParaRPr lang="en-US" b="1">
              <a:latin typeface="Times New Roman Bold" panose="02020503050405090304" charset="0"/>
              <a:cs typeface="Times New Roman Bold" panose="02020503050405090304" charset="0"/>
            </a:endParaRPr>
          </a:p>
          <a:p>
            <a:pPr algn="l"/>
            <a:r>
              <a:rPr lang="en-US" b="1">
                <a:latin typeface="Times New Roman Bold" panose="02020503050405090304" charset="0"/>
                <a:cs typeface="Times New Roman Bold" panose="02020503050405090304" charset="0"/>
              </a:rPr>
              <a:t>Student name: </a:t>
            </a:r>
            <a:r>
              <a:rPr lang="en-US">
                <a:latin typeface="Times New Roman Regular" panose="02020503050405090304" charset="0"/>
                <a:cs typeface="Times New Roman Regular" panose="02020503050405090304" charset="0"/>
              </a:rPr>
              <a:t>N.Uditha, R.Amrutha</a:t>
            </a:r>
            <a:endParaRPr lang="en-US">
              <a:latin typeface="Times New Roman Regular" panose="02020503050405090304" charset="0"/>
              <a:cs typeface="Times New Roman Regular" panose="02020503050405090304" charset="0"/>
            </a:endParaRPr>
          </a:p>
          <a:p>
            <a:pPr algn="l"/>
            <a:r>
              <a:rPr lang="en-US" b="1">
                <a:latin typeface="Times New Roman Bold" panose="02020503050405090304" charset="0"/>
                <a:cs typeface="Times New Roman Bold" panose="02020503050405090304" charset="0"/>
              </a:rPr>
              <a:t>Roll Number:</a:t>
            </a:r>
            <a:r>
              <a:rPr lang="en-US">
                <a:latin typeface="Times New Roman Regular" panose="02020503050405090304" charset="0"/>
                <a:cs typeface="Times New Roman Regular" panose="02020503050405090304" charset="0"/>
              </a:rPr>
              <a:t> 2520040107, 2520040058</a:t>
            </a:r>
            <a:endParaRPr lang="en-US">
              <a:latin typeface="Times New Roman Regular" panose="02020503050405090304" charset="0"/>
              <a:cs typeface="Times New Roman Regular" panose="02020503050405090304" charset="0"/>
            </a:endParaRPr>
          </a:p>
          <a:p>
            <a:pPr algn="l"/>
            <a:r>
              <a:rPr lang="en-US" b="1">
                <a:latin typeface="Times New Roman Bold" panose="02020503050405090304" charset="0"/>
                <a:cs typeface="Times New Roman Bold" panose="02020503050405090304" charset="0"/>
              </a:rPr>
              <a:t>Department:</a:t>
            </a:r>
            <a:r>
              <a:rPr lang="en-US">
                <a:latin typeface="Times New Roman Regular" panose="02020503050405090304" charset="0"/>
                <a:cs typeface="Times New Roman Regular" panose="02020503050405090304" charset="0"/>
              </a:rPr>
              <a:t> ECE</a:t>
            </a:r>
            <a:endParaRPr lang="en-US">
              <a:latin typeface="Times New Roman Regular" panose="02020503050405090304" charset="0"/>
              <a:cs typeface="Times New Roman Regular" panose="02020503050405090304" charset="0"/>
            </a:endParaRPr>
          </a:p>
          <a:p>
            <a:pPr algn="l"/>
            <a:r>
              <a:rPr lang="en-US" b="1">
                <a:latin typeface="Times New Roman Bold" panose="02020503050405090304" charset="0"/>
                <a:cs typeface="Times New Roman Bold" panose="02020503050405090304" charset="0"/>
              </a:rPr>
              <a:t>Guide Name:</a:t>
            </a:r>
            <a:r>
              <a:rPr lang="en-US">
                <a:latin typeface="Times New Roman Regular" panose="02020503050405090304" charset="0"/>
                <a:cs typeface="Times New Roman Regular" panose="02020503050405090304" charset="0"/>
              </a:rPr>
              <a:t> Dr.G. Sudhakar</a:t>
            </a:r>
            <a:endParaRPr lang="en-US">
              <a:latin typeface="Times New Roman Regular" panose="02020503050405090304" charset="0"/>
              <a:cs typeface="Times New Roman Regular" panose="02020503050405090304" charset="0"/>
            </a:endParaRPr>
          </a:p>
          <a:p>
            <a:pPr algn="l"/>
            <a:endParaRPr lang="en-US">
              <a:latin typeface="Times New Roman Regular" panose="02020503050405090304" charset="0"/>
              <a:cs typeface="Times New Roman Regular" panose="02020503050405090304" charset="0"/>
            </a:endParaRPr>
          </a:p>
        </p:txBody>
      </p:sp>
      <p:sp>
        <p:nvSpPr>
          <p:cNvPr id="4" name="Text Box 3"/>
          <p:cNvSpPr txBox="1"/>
          <p:nvPr/>
        </p:nvSpPr>
        <p:spPr>
          <a:xfrm>
            <a:off x="3556000" y="1783080"/>
            <a:ext cx="5080000" cy="337185"/>
          </a:xfrm>
          <a:prstGeom prst="rect">
            <a:avLst/>
          </a:prstGeom>
        </p:spPr>
        <p:txBody>
          <a:bodyPr>
            <a:spAutoFit/>
          </a:bodyPr>
          <a:p>
            <a:pPr marL="0" indent="0"/>
            <a:endParaRPr sz="1600" b="0" i="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latin typeface="Times New Roman Bold" panose="02020503050405090304" charset="0"/>
                <a:cs typeface="Times New Roman Bold" panose="02020503050405090304" charset="0"/>
              </a:rPr>
              <a:t>AGENDA:</a:t>
            </a:r>
            <a:endParaRPr lang="en-US" b="1">
              <a:latin typeface="Times New Roman Bold" panose="02020503050405090304" charset="0"/>
              <a:cs typeface="Times New Roman Bold" panose="02020503050405090304" charset="0"/>
            </a:endParaRPr>
          </a:p>
        </p:txBody>
      </p:sp>
      <p:sp>
        <p:nvSpPr>
          <p:cNvPr id="3" name="Content Placeholder 2"/>
          <p:cNvSpPr>
            <a:spLocks noGrp="1"/>
          </p:cNvSpPr>
          <p:nvPr>
            <p:ph idx="1"/>
          </p:nvPr>
        </p:nvSpPr>
        <p:spPr>
          <a:xfrm>
            <a:off x="761365" y="1691005"/>
            <a:ext cx="10515600" cy="4351338"/>
          </a:xfrm>
        </p:spPr>
        <p:txBody>
          <a:bodyPr>
            <a:normAutofit fontScale="90000"/>
          </a:bodyPr>
          <a:p>
            <a:pPr marL="342900" indent="-342900">
              <a:buAutoNum type="arabicPeriod"/>
            </a:pPr>
            <a:r>
              <a:rPr lang="en-US" altLang="en-US">
                <a:latin typeface="Times New Roman Regular" panose="02020503050405090304" charset="0"/>
                <a:cs typeface="Times New Roman Regular" panose="02020503050405090304" charset="0"/>
              </a:rPr>
              <a:t>Abstract</a:t>
            </a:r>
            <a:endParaRPr lang="en-US" altLang="en-US">
              <a:latin typeface="Times New Roman Regular" panose="02020503050405090304" charset="0"/>
              <a:cs typeface="Times New Roman Regular" panose="02020503050405090304" charset="0"/>
            </a:endParaRPr>
          </a:p>
          <a:p>
            <a:pPr marL="342900" indent="-342900">
              <a:buAutoNum type="arabicPeriod"/>
            </a:pPr>
            <a:r>
              <a:rPr lang="en-US" altLang="en-US">
                <a:latin typeface="Times New Roman Regular" panose="02020503050405090304" charset="0"/>
                <a:cs typeface="Times New Roman Regular" panose="02020503050405090304" charset="0"/>
              </a:rPr>
              <a:t>Hardware Requirements</a:t>
            </a:r>
            <a:endParaRPr lang="en-US" altLang="en-US">
              <a:latin typeface="Times New Roman Regular" panose="02020503050405090304" charset="0"/>
              <a:cs typeface="Times New Roman Regular" panose="02020503050405090304" charset="0"/>
            </a:endParaRPr>
          </a:p>
          <a:p>
            <a:pPr marL="342900" indent="-342900">
              <a:buAutoNum type="arabicPeriod"/>
            </a:pPr>
            <a:r>
              <a:rPr lang="en-US" altLang="en-US">
                <a:latin typeface="Times New Roman Regular" panose="02020503050405090304" charset="0"/>
                <a:cs typeface="Times New Roman Regular" panose="02020503050405090304" charset="0"/>
              </a:rPr>
              <a:t>Software Requirements</a:t>
            </a:r>
            <a:endParaRPr lang="en-US" altLang="en-US">
              <a:latin typeface="Times New Roman Regular" panose="02020503050405090304" charset="0"/>
              <a:cs typeface="Times New Roman Regular" panose="02020503050405090304" charset="0"/>
            </a:endParaRPr>
          </a:p>
          <a:p>
            <a:pPr marL="342900" indent="-342900">
              <a:buAutoNum type="arabicPeriod"/>
            </a:pPr>
            <a:r>
              <a:rPr lang="en-US" altLang="en-US">
                <a:latin typeface="Times New Roman Regular" panose="02020503050405090304" charset="0"/>
                <a:cs typeface="Times New Roman Regular" panose="02020503050405090304" charset="0"/>
              </a:rPr>
              <a:t>Existing System ,Existing System Architecture</a:t>
            </a:r>
            <a:endParaRPr lang="en-US" altLang="en-US">
              <a:latin typeface="Times New Roman Regular" panose="02020503050405090304" charset="0"/>
              <a:cs typeface="Times New Roman Regular" panose="02020503050405090304" charset="0"/>
            </a:endParaRPr>
          </a:p>
          <a:p>
            <a:pPr marL="342900" indent="-342900">
              <a:buAutoNum type="arabicPeriod"/>
            </a:pPr>
            <a:r>
              <a:rPr lang="en-US" altLang="en-US">
                <a:latin typeface="Times New Roman Regular" panose="02020503050405090304" charset="0"/>
                <a:cs typeface="Times New Roman Regular" panose="02020503050405090304" charset="0"/>
              </a:rPr>
              <a:t>Proposed System ,Proposed System Architecture</a:t>
            </a:r>
            <a:endParaRPr lang="en-US" altLang="en-US">
              <a:latin typeface="Times New Roman Regular" panose="02020503050405090304" charset="0"/>
              <a:cs typeface="Times New Roman Regular" panose="02020503050405090304" charset="0"/>
            </a:endParaRPr>
          </a:p>
          <a:p>
            <a:pPr marL="342900" indent="-342900">
              <a:buAutoNum type="arabicPeriod"/>
            </a:pPr>
            <a:r>
              <a:rPr lang="en-US" altLang="en-US">
                <a:latin typeface="Times New Roman Regular" panose="02020503050405090304" charset="0"/>
                <a:cs typeface="Times New Roman Regular" panose="02020503050405090304" charset="0"/>
              </a:rPr>
              <a:t>Methodology</a:t>
            </a:r>
            <a:endParaRPr lang="en-US" altLang="en-US">
              <a:latin typeface="Times New Roman Regular" panose="02020503050405090304" charset="0"/>
              <a:cs typeface="Times New Roman Regular" panose="02020503050405090304" charset="0"/>
            </a:endParaRPr>
          </a:p>
          <a:p>
            <a:pPr marL="342900" indent="-342900">
              <a:buAutoNum type="arabicPeriod"/>
            </a:pPr>
            <a:r>
              <a:rPr lang="en-US" altLang="en-US">
                <a:latin typeface="Times New Roman Regular" panose="02020503050405090304" charset="0"/>
                <a:cs typeface="Times New Roman Regular" panose="02020503050405090304" charset="0"/>
              </a:rPr>
              <a:t>Python Code</a:t>
            </a:r>
            <a:endParaRPr lang="en-US" altLang="en-US">
              <a:latin typeface="Times New Roman Regular" panose="02020503050405090304" charset="0"/>
              <a:cs typeface="Times New Roman Regular" panose="02020503050405090304" charset="0"/>
            </a:endParaRPr>
          </a:p>
          <a:p>
            <a:pPr marL="342900" indent="-342900">
              <a:buAutoNum type="arabicPeriod"/>
            </a:pPr>
            <a:r>
              <a:rPr lang="en-US" altLang="en-US">
                <a:latin typeface="Times New Roman Regular" panose="02020503050405090304" charset="0"/>
                <a:cs typeface="Times New Roman Regular" panose="02020503050405090304" charset="0"/>
              </a:rPr>
              <a:t>Output Screenshots</a:t>
            </a:r>
            <a:endParaRPr lang="en-US" altLang="en-US">
              <a:latin typeface="Times New Roman Regular" panose="02020503050405090304" charset="0"/>
              <a:cs typeface="Times New Roman Regular" panose="02020503050405090304" charset="0"/>
            </a:endParaRPr>
          </a:p>
          <a:p>
            <a:pPr marL="342900" indent="-342900">
              <a:buAutoNum type="arabicPeriod"/>
            </a:pPr>
            <a:r>
              <a:rPr lang="en-US" altLang="en-US">
                <a:latin typeface="Times New Roman Regular" panose="02020503050405090304" charset="0"/>
                <a:cs typeface="Times New Roman Regular" panose="02020503050405090304" charset="0"/>
              </a:rPr>
              <a:t>Conclusion</a:t>
            </a:r>
            <a:endParaRPr lang="en-US" altLang="en-US">
              <a:latin typeface="Times New Roman Regular" panose="02020503050405090304" charset="0"/>
              <a:cs typeface="Times New Roman Regular" panose="0202050305040509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latin typeface="Times New Roman Bold" panose="02020503050405090304" charset="0"/>
                <a:cs typeface="Times New Roman Bold" panose="02020503050405090304" charset="0"/>
              </a:rPr>
              <a:t>Abstract:</a:t>
            </a:r>
            <a:endParaRPr lang="en-US" altLang="en-US" b="1">
              <a:latin typeface="Times New Roman Bold" panose="02020503050405090304" charset="0"/>
              <a:cs typeface="Times New Roman Bold" panose="02020503050405090304" charset="0"/>
            </a:endParaRPr>
          </a:p>
        </p:txBody>
      </p:sp>
      <p:sp>
        <p:nvSpPr>
          <p:cNvPr id="3" name="Content Placeholder 2"/>
          <p:cNvSpPr>
            <a:spLocks noGrp="1"/>
          </p:cNvSpPr>
          <p:nvPr>
            <p:ph idx="1"/>
          </p:nvPr>
        </p:nvSpPr>
        <p:spPr/>
        <p:txBody>
          <a:bodyPr>
            <a:normAutofit/>
          </a:bodyPr>
          <a:p>
            <a:pPr marL="0" indent="0">
              <a:buNone/>
            </a:pPr>
            <a:r>
              <a:rPr lang="en-US" altLang="en-US" sz="3200">
                <a:latin typeface="Times New Roman Regular" panose="02020503050405090304" charset="0"/>
                <a:cs typeface="Times New Roman Regular" panose="02020503050405090304" charset="0"/>
              </a:rPr>
              <a:t>The Examination Seating Arrangement System automates the process of assigning students to seats in an examination hall.</a:t>
            </a:r>
            <a:endParaRPr lang="en-US" altLang="en-US" sz="3200">
              <a:latin typeface="Times New Roman Regular" panose="02020503050405090304" charset="0"/>
              <a:cs typeface="Times New Roman Regular" panose="02020503050405090304" charset="0"/>
            </a:endParaRPr>
          </a:p>
          <a:p>
            <a:pPr marL="0" indent="0">
              <a:buNone/>
            </a:pPr>
            <a:r>
              <a:rPr lang="en-US" altLang="en-US" sz="3200">
                <a:latin typeface="Times New Roman Regular" panose="02020503050405090304" charset="0"/>
                <a:cs typeface="Times New Roman Regular" panose="02020503050405090304" charset="0"/>
              </a:rPr>
              <a:t>It reduces manual effort and saves time.The system ensures that every student is assigned a unique seat.It helps avoid confusion and seating errors.The program calculates total students, total seats, and vacant seats automatically.The project is developed using Python programming language.The system can be extended for large-scale examinations in colleges and universities.</a:t>
            </a:r>
            <a:endParaRPr lang="en-US" altLang="en-US" sz="3200">
              <a:latin typeface="Times New Roman Regular" panose="02020503050405090304" charset="0"/>
              <a:cs typeface="Times New Roman Regular" panose="0202050305040509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latin typeface="Times New Roman Bold" panose="02020503050405090304" charset="0"/>
                <a:cs typeface="Times New Roman Bold" panose="02020503050405090304" charset="0"/>
              </a:rPr>
              <a:t>Hardware Requirements:</a:t>
            </a:r>
            <a:endParaRPr lang="en-US" altLang="en-US" b="1">
              <a:latin typeface="Times New Roman Bold" panose="02020503050405090304" charset="0"/>
              <a:cs typeface="Times New Roman Bold" panose="02020503050405090304" charset="0"/>
            </a:endParaRPr>
          </a:p>
        </p:txBody>
      </p:sp>
      <p:sp>
        <p:nvSpPr>
          <p:cNvPr id="3" name="Content Placeholder 2"/>
          <p:cNvSpPr>
            <a:spLocks noGrp="1"/>
          </p:cNvSpPr>
          <p:nvPr>
            <p:ph idx="1"/>
          </p:nvPr>
        </p:nvSpPr>
        <p:spPr/>
        <p:txBody>
          <a:bodyPr/>
          <a:p>
            <a:pPr marL="514350" indent="-514350">
              <a:buAutoNum type="arabicPeriod"/>
            </a:pPr>
            <a:r>
              <a:rPr lang="en-US" altLang="en-US">
                <a:latin typeface="Times New Roman Regular" panose="02020503050405090304" charset="0"/>
                <a:cs typeface="Times New Roman Regular" panose="02020503050405090304" charset="0"/>
              </a:rPr>
              <a:t>Laptop/Desktop Computer</a:t>
            </a:r>
            <a:endParaRPr lang="en-US" altLang="en-US">
              <a:latin typeface="Times New Roman Regular" panose="02020503050405090304" charset="0"/>
              <a:cs typeface="Times New Roman Regular" panose="02020503050405090304" charset="0"/>
            </a:endParaRPr>
          </a:p>
          <a:p>
            <a:pPr marL="514350" indent="-514350">
              <a:buAutoNum type="arabicPeriod"/>
            </a:pPr>
            <a:r>
              <a:rPr lang="en-US" altLang="en-US">
                <a:latin typeface="Times New Roman Regular" panose="02020503050405090304" charset="0"/>
                <a:cs typeface="Times New Roman Regular" panose="02020503050405090304" charset="0"/>
              </a:rPr>
              <a:t>Intel Core i3/i5/i7 Processor</a:t>
            </a:r>
            <a:endParaRPr lang="en-US" altLang="en-US">
              <a:latin typeface="Times New Roman Regular" panose="02020503050405090304" charset="0"/>
              <a:cs typeface="Times New Roman Regular" panose="02020503050405090304" charset="0"/>
            </a:endParaRPr>
          </a:p>
          <a:p>
            <a:pPr marL="514350" indent="-514350">
              <a:buAutoNum type="arabicPeriod"/>
            </a:pPr>
            <a:r>
              <a:rPr lang="en-US" altLang="en-US">
                <a:latin typeface="Times New Roman Regular" panose="02020503050405090304" charset="0"/>
                <a:cs typeface="Times New Roman Regular" panose="02020503050405090304" charset="0"/>
              </a:rPr>
              <a:t>Minimum 4 GB RAM</a:t>
            </a:r>
            <a:endParaRPr lang="en-US" altLang="en-US">
              <a:latin typeface="Times New Roman Regular" panose="02020503050405090304" charset="0"/>
              <a:cs typeface="Times New Roman Regular" panose="02020503050405090304" charset="0"/>
            </a:endParaRPr>
          </a:p>
          <a:p>
            <a:pPr marL="514350" indent="-514350">
              <a:buAutoNum type="arabicPeriod"/>
            </a:pPr>
            <a:r>
              <a:rPr lang="en-US" altLang="en-US">
                <a:latin typeface="Times New Roman Regular" panose="02020503050405090304" charset="0"/>
                <a:cs typeface="Times New Roman Regular" panose="02020503050405090304" charset="0"/>
              </a:rPr>
              <a:t>500 MB Free Disk Space</a:t>
            </a:r>
            <a:endParaRPr lang="en-US" altLang="en-US">
              <a:latin typeface="Times New Roman Regular" panose="02020503050405090304" charset="0"/>
              <a:cs typeface="Times New Roman Regular" panose="02020503050405090304" charset="0"/>
            </a:endParaRPr>
          </a:p>
          <a:p>
            <a:pPr marL="514350" indent="-514350">
              <a:buAutoNum type="arabicPeriod"/>
            </a:pPr>
            <a:r>
              <a:rPr lang="en-US" altLang="en-US">
                <a:latin typeface="Times New Roman Regular" panose="02020503050405090304" charset="0"/>
                <a:cs typeface="Times New Roman Regular" panose="02020503050405090304" charset="0"/>
              </a:rPr>
              <a:t>Keyboard and Mouse</a:t>
            </a:r>
            <a:endParaRPr lang="en-US" altLang="en-US">
              <a:latin typeface="Times New Roman Regular" panose="02020503050405090304" charset="0"/>
              <a:cs typeface="Times New Roman Regular" panose="02020503050405090304" charset="0"/>
            </a:endParaRPr>
          </a:p>
          <a:p>
            <a:pPr marL="514350" indent="-514350">
              <a:buAutoNum type="arabicPeriod"/>
            </a:pPr>
            <a:r>
              <a:rPr lang="en-US" altLang="en-US">
                <a:latin typeface="Times New Roman Regular" panose="02020503050405090304" charset="0"/>
                <a:cs typeface="Times New Roman Regular" panose="02020503050405090304" charset="0"/>
              </a:rPr>
              <a:t>Display Monitor</a:t>
            </a:r>
            <a:endParaRPr lang="en-US" altLang="en-US">
              <a:latin typeface="Times New Roman Regular" panose="02020503050405090304" charset="0"/>
              <a:cs typeface="Times New Roman Regular" panose="02020503050405090304" charset="0"/>
            </a:endParaRPr>
          </a:p>
          <a:p>
            <a:pPr marL="514350" indent="-514350">
              <a:buAutoNum type="arabicPeriod"/>
            </a:pPr>
            <a:r>
              <a:rPr lang="en-US" altLang="en-US">
                <a:latin typeface="Times New Roman Regular" panose="02020503050405090304" charset="0"/>
                <a:cs typeface="Times New Roman Regular" panose="02020503050405090304" charset="0"/>
              </a:rPr>
              <a:t>Internet Connection (Optional)</a:t>
            </a:r>
            <a:endParaRPr lang="en-US" altLang="en-US">
              <a:latin typeface="Times New Roman Regular" panose="02020503050405090304" charset="0"/>
              <a:cs typeface="Times New Roman Regular" panose="0202050305040509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1325880"/>
          </a:xfrm>
        </p:spPr>
        <p:txBody>
          <a:bodyPr/>
          <a:p>
            <a:r>
              <a:rPr lang="en-US" altLang="en-US" b="1">
                <a:latin typeface="Times New Roman Bold" panose="02020503050405090304" charset="0"/>
                <a:cs typeface="Times New Roman Bold" panose="02020503050405090304" charset="0"/>
              </a:rPr>
              <a:t>Software Requirements:</a:t>
            </a:r>
            <a:endParaRPr lang="en-US" altLang="en-US" b="1">
              <a:latin typeface="Times New Roman Bold" panose="02020503050405090304" charset="0"/>
              <a:cs typeface="Times New Roman Bold" panose="02020503050405090304" charset="0"/>
            </a:endParaRPr>
          </a:p>
        </p:txBody>
      </p:sp>
      <p:sp>
        <p:nvSpPr>
          <p:cNvPr id="3" name="Content Placeholder 2"/>
          <p:cNvSpPr>
            <a:spLocks noGrp="1"/>
          </p:cNvSpPr>
          <p:nvPr>
            <p:ph idx="1"/>
          </p:nvPr>
        </p:nvSpPr>
        <p:spPr/>
        <p:txBody>
          <a:bodyPr/>
          <a:p>
            <a:r>
              <a:rPr lang="en-US" altLang="en-US">
                <a:latin typeface="Times New Roman Regular" panose="02020503050405090304" charset="0"/>
                <a:cs typeface="Times New Roman Regular" panose="02020503050405090304" charset="0"/>
              </a:rPr>
              <a:t>Operating System: Windows/macOS/Linux</a:t>
            </a:r>
            <a:endParaRPr lang="en-US" altLang="en-US">
              <a:latin typeface="Times New Roman Regular" panose="02020503050405090304" charset="0"/>
              <a:cs typeface="Times New Roman Regular" panose="02020503050405090304" charset="0"/>
            </a:endParaRPr>
          </a:p>
          <a:p>
            <a:r>
              <a:rPr lang="en-US" altLang="en-US">
                <a:latin typeface="Times New Roman Regular" panose="02020503050405090304" charset="0"/>
                <a:cs typeface="Times New Roman Regular" panose="02020503050405090304" charset="0"/>
              </a:rPr>
              <a:t>Python 3.x</a:t>
            </a:r>
            <a:endParaRPr lang="en-US" altLang="en-US">
              <a:latin typeface="Times New Roman Regular" panose="02020503050405090304" charset="0"/>
              <a:cs typeface="Times New Roman Regular" panose="02020503050405090304" charset="0"/>
            </a:endParaRPr>
          </a:p>
          <a:p>
            <a:r>
              <a:rPr lang="en-US" altLang="en-US">
                <a:latin typeface="Times New Roman Regular" panose="02020503050405090304" charset="0"/>
                <a:cs typeface="Times New Roman Regular" panose="02020503050405090304" charset="0"/>
              </a:rPr>
              <a:t>Visual Studio Code (VS Code) or PyCharm</a:t>
            </a:r>
            <a:endParaRPr lang="en-US" altLang="en-US">
              <a:latin typeface="Times New Roman Regular" panose="02020503050405090304" charset="0"/>
              <a:cs typeface="Times New Roman Regular" panose="02020503050405090304" charset="0"/>
            </a:endParaRPr>
          </a:p>
          <a:p>
            <a:r>
              <a:rPr lang="en-US" altLang="en-US">
                <a:latin typeface="Times New Roman Regular" panose="02020503050405090304" charset="0"/>
                <a:cs typeface="Times New Roman Regular" panose="02020503050405090304" charset="0"/>
              </a:rPr>
              <a:t>Terminal/Command Prompt</a:t>
            </a:r>
            <a:endParaRPr lang="en-US" altLang="en-US">
              <a:latin typeface="Times New Roman Regular" panose="02020503050405090304" charset="0"/>
              <a:cs typeface="Times New Roman Regular" panose="02020503050405090304" charset="0"/>
            </a:endParaRPr>
          </a:p>
          <a:p>
            <a:r>
              <a:rPr lang="en-US" altLang="en-US">
                <a:latin typeface="Times New Roman Regular" panose="02020503050405090304" charset="0"/>
                <a:cs typeface="Times New Roman Regular" panose="02020503050405090304" charset="0"/>
              </a:rPr>
              <a:t>Python Libraries (Built-in Modules)</a:t>
            </a:r>
            <a:endParaRPr lang="en-US" altLang="en-US">
              <a:latin typeface="Times New Roman Regular" panose="02020503050405090304" charset="0"/>
              <a:cs typeface="Times New Roman Regular" panose="02020503050405090304" charset="0"/>
            </a:endParaRPr>
          </a:p>
          <a:p>
            <a:r>
              <a:rPr lang="en-US" altLang="en-US">
                <a:latin typeface="Times New Roman Regular" panose="02020503050405090304" charset="0"/>
                <a:cs typeface="Times New Roman Regular" panose="02020503050405090304" charset="0"/>
              </a:rPr>
              <a:t>Web Browser (Optional)</a:t>
            </a:r>
            <a:endParaRPr lang="en-US" altLang="en-US">
              <a:latin typeface="Times New Roman Regular" panose="02020503050405090304" charset="0"/>
              <a:cs typeface="Times New Roman Regular" panose="0202050305040509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latin typeface="Times New Roman Bold" panose="02020503050405090304" charset="0"/>
                <a:cs typeface="Times New Roman Bold" panose="02020503050405090304" charset="0"/>
              </a:rPr>
              <a:t>Existing System:</a:t>
            </a:r>
            <a:endParaRPr lang="en-US" altLang="en-US" b="1">
              <a:latin typeface="Times New Roman Bold" panose="02020503050405090304" charset="0"/>
              <a:cs typeface="Times New Roman Bold" panose="02020503050405090304" charset="0"/>
            </a:endParaRPr>
          </a:p>
        </p:txBody>
      </p:sp>
      <p:sp>
        <p:nvSpPr>
          <p:cNvPr id="3" name="Content Placeholder 2"/>
          <p:cNvSpPr>
            <a:spLocks noGrp="1"/>
          </p:cNvSpPr>
          <p:nvPr>
            <p:ph idx="1"/>
          </p:nvPr>
        </p:nvSpPr>
        <p:spPr>
          <a:xfrm>
            <a:off x="838200" y="1825625"/>
            <a:ext cx="8729980" cy="4351655"/>
          </a:xfrm>
        </p:spPr>
        <p:txBody>
          <a:bodyPr/>
          <a:p>
            <a:r>
              <a:rPr lang="en-US" b="1">
                <a:latin typeface="Times New Roman Bold" panose="02020503050405090304" charset="0"/>
                <a:cs typeface="Times New Roman Bold" panose="02020503050405090304" charset="0"/>
              </a:rPr>
              <a:t> </a:t>
            </a:r>
            <a:r>
              <a:rPr lang="en-US" altLang="en-US">
                <a:latin typeface="Times New Roman" panose="02020503050405090304" charset="0"/>
                <a:cs typeface="Times New Roman" panose="02020503050405090304" charset="0"/>
              </a:rPr>
              <a:t>Seating arrangements are prepared manually.</a:t>
            </a:r>
            <a:endParaRPr lang="en-US" altLang="en-US">
              <a:latin typeface="Times New Roman" panose="02020503050405090304" charset="0"/>
              <a:cs typeface="Times New Roman" panose="02020503050405090304" charset="0"/>
            </a:endParaRPr>
          </a:p>
          <a:p>
            <a:pPr algn="l"/>
            <a:r>
              <a:rPr lang="en-US" altLang="en-US">
                <a:latin typeface="Times New Roman" panose="02020503050405090304" charset="0"/>
                <a:cs typeface="Times New Roman" panose="02020503050405090304" charset="0"/>
              </a:rPr>
              <a:t>Requires more time and effort.</a:t>
            </a:r>
            <a:endParaRPr lang="en-US" altLang="en-US">
              <a:latin typeface="Times New Roman" panose="02020503050405090304" charset="0"/>
              <a:cs typeface="Times New Roman" panose="02020503050405090304" charset="0"/>
            </a:endParaRPr>
          </a:p>
          <a:p>
            <a:pPr algn="l"/>
            <a:r>
              <a:rPr lang="en-US" altLang="en-US">
                <a:latin typeface="Times New Roman" panose="02020503050405090304" charset="0"/>
                <a:cs typeface="Times New Roman" panose="02020503050405090304" charset="0"/>
              </a:rPr>
              <a:t>Possibility of human errors.</a:t>
            </a:r>
            <a:endParaRPr lang="en-US" altLang="en-US">
              <a:latin typeface="Times New Roman" panose="02020503050405090304" charset="0"/>
              <a:cs typeface="Times New Roman" panose="02020503050405090304" charset="0"/>
            </a:endParaRPr>
          </a:p>
          <a:p>
            <a:pPr algn="l"/>
            <a:r>
              <a:rPr lang="en-US" altLang="en-US">
                <a:latin typeface="Times New Roman" panose="02020503050405090304" charset="0"/>
                <a:cs typeface="Times New Roman" panose="02020503050405090304" charset="0"/>
              </a:rPr>
              <a:t>Difficult to modify arrangements at the last minute.</a:t>
            </a:r>
            <a:endParaRPr lang="en-US" altLang="en-US">
              <a:latin typeface="Times New Roman" panose="02020503050405090304" charset="0"/>
              <a:cs typeface="Times New Roman" panose="02020503050405090304" charset="0"/>
            </a:endParaRPr>
          </a:p>
          <a:p>
            <a:pPr algn="l"/>
            <a:r>
              <a:rPr lang="en-US" altLang="en-US">
                <a:latin typeface="Times New Roman" panose="02020503050405090304" charset="0"/>
                <a:cs typeface="Times New Roman" panose="02020503050405090304" charset="0"/>
              </a:rPr>
              <a:t>Managing a large number of students is challenging.</a:t>
            </a:r>
            <a:endParaRPr lang="en-US" altLang="en-US">
              <a:latin typeface="Times New Roman" panose="02020503050405090304" charset="0"/>
              <a:cs typeface="Times New Roman" panose="02020503050405090304" charset="0"/>
            </a:endParaRPr>
          </a:p>
          <a:p>
            <a:pPr algn="l"/>
            <a:r>
              <a:rPr lang="en-US" altLang="en-US">
                <a:latin typeface="Times New Roman" panose="02020503050405090304" charset="0"/>
                <a:cs typeface="Times New Roman" panose="02020503050405090304" charset="0"/>
              </a:rPr>
              <a:t>Record maintenance is difficult.</a:t>
            </a:r>
            <a:br>
              <a:rPr lang="en-US" altLang="en-US">
                <a:latin typeface="Times New Roman" panose="02020503050405090304" charset="0"/>
                <a:cs typeface="Times New Roman" panose="02020503050405090304" charset="0"/>
              </a:rPr>
            </a:br>
            <a:endParaRPr lang="en-US" altLang="en-US">
              <a:latin typeface="Times New Roman" panose="02020503050405090304" charset="0"/>
              <a:cs typeface="Times New Roman" panose="02020503050405090304" charset="0"/>
            </a:endParaRPr>
          </a:p>
        </p:txBody>
      </p:sp>
      <p:pic>
        <p:nvPicPr>
          <p:cNvPr id="6" name="Picture 5"/>
          <p:cNvPicPr>
            <a:picLocks noChangeAspect="1"/>
          </p:cNvPicPr>
          <p:nvPr/>
        </p:nvPicPr>
        <p:blipFill>
          <a:blip r:embed="rId1"/>
          <a:stretch>
            <a:fillRect/>
          </a:stretch>
        </p:blipFill>
        <p:spPr>
          <a:xfrm>
            <a:off x="9042400" y="0"/>
            <a:ext cx="296672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latin typeface="Times New Roman Bold" panose="02020503050405090304" charset="0"/>
                <a:cs typeface="Times New Roman Bold" panose="02020503050405090304" charset="0"/>
              </a:rPr>
              <a:t>Advantages:</a:t>
            </a:r>
            <a:endParaRPr lang="en-US" altLang="en-US" b="1">
              <a:latin typeface="Times New Roman Bold" panose="02020503050405090304" charset="0"/>
              <a:cs typeface="Times New Roman Bold" panose="02020503050405090304" charset="0"/>
            </a:endParaRPr>
          </a:p>
        </p:txBody>
      </p:sp>
      <p:sp>
        <p:nvSpPr>
          <p:cNvPr id="3" name="Content Placeholder 2"/>
          <p:cNvSpPr>
            <a:spLocks noGrp="1"/>
          </p:cNvSpPr>
          <p:nvPr>
            <p:ph idx="1"/>
          </p:nvPr>
        </p:nvSpPr>
        <p:spPr>
          <a:xfrm>
            <a:off x="713740" y="1417320"/>
            <a:ext cx="10515600" cy="4351338"/>
          </a:xfrm>
        </p:spPr>
        <p:txBody>
          <a:bodyPr/>
          <a:p>
            <a:r>
              <a:rPr lang="en-US" altLang="en-US">
                <a:latin typeface="Times New Roman" panose="02020503050405090304" charset="0"/>
                <a:cs typeface="Times New Roman" panose="02020503050405090304" charset="0"/>
              </a:rPr>
              <a:t>Simple for a very small number of students.</a:t>
            </a:r>
            <a:endParaRPr lang="en-US" altLang="en-US">
              <a:latin typeface="Times New Roman" panose="02020503050405090304" charset="0"/>
              <a:cs typeface="Times New Roman" panose="02020503050405090304" charset="0"/>
            </a:endParaRPr>
          </a:p>
          <a:p>
            <a:pPr marL="0" indent="0">
              <a:buNone/>
            </a:pPr>
            <a:br>
              <a:rPr lang="en-US" altLang="en-US" sz="4400" b="1">
                <a:latin typeface="Times New Roman Bold" panose="02020503050405090304" charset="0"/>
                <a:cs typeface="Times New Roman Bold" panose="02020503050405090304" charset="0"/>
              </a:rPr>
            </a:br>
            <a:r>
              <a:rPr lang="en-US" altLang="en-US" sz="4400" b="1">
                <a:latin typeface="Times New Roman Bold" panose="02020503050405090304" charset="0"/>
                <a:cs typeface="Times New Roman Bold" panose="02020503050405090304" charset="0"/>
              </a:rPr>
              <a:t>Disadvantages:</a:t>
            </a:r>
            <a:endParaRPr lang="en-US" altLang="en-US" sz="4400" b="1">
              <a:latin typeface="Times New Roman Bold" panose="02020503050405090304" charset="0"/>
              <a:cs typeface="Times New Roman Bold" panose="02020503050405090304" charset="0"/>
            </a:endParaRPr>
          </a:p>
          <a:p>
            <a:r>
              <a:rPr lang="en-US" altLang="en-US">
                <a:latin typeface="Times New Roman Regular" panose="02020503050405090304" charset="0"/>
                <a:cs typeface="Times New Roman Regular" panose="02020503050405090304" charset="0"/>
              </a:rPr>
              <a:t>Time-consuming.</a:t>
            </a:r>
            <a:endParaRPr lang="en-US" altLang="en-US">
              <a:latin typeface="Times New Roman Regular" panose="02020503050405090304" charset="0"/>
              <a:cs typeface="Times New Roman Regular" panose="02020503050405090304" charset="0"/>
            </a:endParaRPr>
          </a:p>
          <a:p>
            <a:r>
              <a:rPr lang="en-US" altLang="en-US">
                <a:latin typeface="Times New Roman Regular" panose="02020503050405090304" charset="0"/>
                <a:cs typeface="Times New Roman Regular" panose="02020503050405090304" charset="0"/>
              </a:rPr>
              <a:t>Error-prone.</a:t>
            </a:r>
            <a:endParaRPr lang="en-US" altLang="en-US">
              <a:latin typeface="Times New Roman Regular" panose="02020503050405090304" charset="0"/>
              <a:cs typeface="Times New Roman Regular" panose="02020503050405090304" charset="0"/>
            </a:endParaRPr>
          </a:p>
          <a:p>
            <a:r>
              <a:rPr lang="en-US" altLang="en-US">
                <a:latin typeface="Times New Roman Regular" panose="02020503050405090304" charset="0"/>
                <a:cs typeface="Times New Roman Regular" panose="02020503050405090304" charset="0"/>
              </a:rPr>
              <a:t>Less efficient.</a:t>
            </a:r>
            <a:endParaRPr lang="en-US" altLang="en-US">
              <a:latin typeface="Times New Roman Regular" panose="02020503050405090304" charset="0"/>
              <a:cs typeface="Times New Roman Regular" panose="0202050305040509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latin typeface="Times New Roman Bold" panose="02020503050405090304" charset="0"/>
                <a:cs typeface="Times New Roman Bold" panose="02020503050405090304" charset="0"/>
              </a:rPr>
              <a:t>Proposed System:</a:t>
            </a:r>
            <a:endParaRPr lang="en-US" altLang="en-US" b="1">
              <a:latin typeface="Times New Roman Bold" panose="02020503050405090304" charset="0"/>
              <a:cs typeface="Times New Roman Bold" panose="02020503050405090304" charset="0"/>
            </a:endParaRPr>
          </a:p>
        </p:txBody>
      </p:sp>
      <p:sp>
        <p:nvSpPr>
          <p:cNvPr id="3" name="Content Placeholder 2"/>
          <p:cNvSpPr>
            <a:spLocks noGrp="1"/>
          </p:cNvSpPr>
          <p:nvPr>
            <p:ph idx="1"/>
          </p:nvPr>
        </p:nvSpPr>
        <p:spPr>
          <a:xfrm>
            <a:off x="838200" y="1691005"/>
            <a:ext cx="10515600" cy="4351338"/>
          </a:xfrm>
        </p:spPr>
        <p:txBody>
          <a:bodyPr/>
          <a:p>
            <a:pPr marL="0" indent="0">
              <a:buNone/>
            </a:pPr>
            <a:r>
              <a:rPr lang="en-US" altLang="en-US" b="1">
                <a:latin typeface="Times New Roman Bold" panose="02020503050405090304" charset="0"/>
                <a:cs typeface="Times New Roman Bold" panose="02020503050405090304" charset="0"/>
              </a:rPr>
              <a:t>Features of the Proposed System:</a:t>
            </a:r>
            <a:endParaRPr lang="en-US" altLang="en-US" b="1">
              <a:latin typeface="Times New Roman Bold" panose="02020503050405090304" charset="0"/>
              <a:cs typeface="Times New Roman Bold" panose="02020503050405090304" charset="0"/>
            </a:endParaRPr>
          </a:p>
          <a:p>
            <a:r>
              <a:rPr lang="en-US" altLang="en-US">
                <a:latin typeface="Times New Roman Regular" panose="02020503050405090304" charset="0"/>
                <a:cs typeface="Times New Roman Regular" panose="02020503050405090304" charset="0"/>
              </a:rPr>
              <a:t>Automatic seat allocation.</a:t>
            </a:r>
            <a:endParaRPr lang="en-US" altLang="en-US">
              <a:latin typeface="Times New Roman Regular" panose="02020503050405090304" charset="0"/>
              <a:cs typeface="Times New Roman Regular" panose="02020503050405090304" charset="0"/>
            </a:endParaRPr>
          </a:p>
          <a:p>
            <a:r>
              <a:rPr lang="en-US" altLang="en-US">
                <a:latin typeface="Times New Roman Regular" panose="02020503050405090304" charset="0"/>
                <a:cs typeface="Times New Roman Regular" panose="02020503050405090304" charset="0"/>
              </a:rPr>
              <a:t>Faster and more accurate.</a:t>
            </a:r>
            <a:endParaRPr lang="en-US" altLang="en-US">
              <a:latin typeface="Times New Roman Regular" panose="02020503050405090304" charset="0"/>
              <a:cs typeface="Times New Roman Regular" panose="02020503050405090304" charset="0"/>
            </a:endParaRPr>
          </a:p>
          <a:p>
            <a:r>
              <a:rPr lang="en-US" altLang="en-US">
                <a:latin typeface="Times New Roman Regular" panose="02020503050405090304" charset="0"/>
                <a:cs typeface="Times New Roman Regular" panose="02020503050405090304" charset="0"/>
              </a:rPr>
              <a:t>Reduces manual work.</a:t>
            </a:r>
            <a:endParaRPr lang="en-US" altLang="en-US">
              <a:latin typeface="Times New Roman Regular" panose="02020503050405090304" charset="0"/>
              <a:cs typeface="Times New Roman Regular" panose="02020503050405090304" charset="0"/>
            </a:endParaRPr>
          </a:p>
          <a:p>
            <a:r>
              <a:rPr lang="en-US" altLang="en-US">
                <a:latin typeface="Times New Roman Regular" panose="02020503050405090304" charset="0"/>
                <a:cs typeface="Times New Roman Regular" panose="02020503050405090304" charset="0"/>
              </a:rPr>
              <a:t>Displays seating arrangement clearly.</a:t>
            </a:r>
            <a:endParaRPr lang="en-US" altLang="en-US">
              <a:latin typeface="Times New Roman Regular" panose="02020503050405090304" charset="0"/>
              <a:cs typeface="Times New Roman Regular" panose="02020503050405090304" charset="0"/>
            </a:endParaRPr>
          </a:p>
          <a:p>
            <a:r>
              <a:rPr lang="en-US" altLang="en-US">
                <a:latin typeface="Times New Roman Regular" panose="02020503050405090304" charset="0"/>
                <a:cs typeface="Times New Roman Regular" panose="02020503050405090304" charset="0"/>
              </a:rPr>
              <a:t>Calculates vacant seats automatically.</a:t>
            </a:r>
            <a:endParaRPr lang="en-US" altLang="en-US">
              <a:latin typeface="Times New Roman Regular" panose="02020503050405090304" charset="0"/>
              <a:cs typeface="Times New Roman Regular" panose="02020503050405090304" charset="0"/>
            </a:endParaRPr>
          </a:p>
          <a:p>
            <a:r>
              <a:rPr lang="en-US" altLang="en-US">
                <a:latin typeface="Times New Roman Regular" panose="02020503050405090304" charset="0"/>
                <a:cs typeface="Times New Roman Regular" panose="02020503050405090304" charset="0"/>
              </a:rPr>
              <a:t>Easy to update student information.</a:t>
            </a:r>
            <a:endParaRPr lang="en-US" altLang="en-US">
              <a:latin typeface="Times New Roman Regular" panose="02020503050405090304" charset="0"/>
              <a:cs typeface="Times New Roman Regular" panose="02020503050405090304" charset="0"/>
            </a:endParaRPr>
          </a:p>
          <a:p>
            <a:r>
              <a:rPr lang="en-US" altLang="en-US">
                <a:latin typeface="Times New Roman Regular" panose="02020503050405090304" charset="0"/>
                <a:cs typeface="Times New Roman Regular" panose="02020503050405090304" charset="0"/>
              </a:rPr>
              <a:t>Can handle a large number of students efficiently.</a:t>
            </a:r>
            <a:endParaRPr lang="en-US" altLang="en-US">
              <a:latin typeface="Times New Roman Regular" panose="02020503050405090304" charset="0"/>
              <a:cs typeface="Times New Roman Regular" panose="02020503050405090304" charset="0"/>
            </a:endParaRPr>
          </a:p>
        </p:txBody>
      </p:sp>
      <p:pic>
        <p:nvPicPr>
          <p:cNvPr id="4" name="Picture 3"/>
          <p:cNvPicPr>
            <a:picLocks noChangeAspect="1"/>
          </p:cNvPicPr>
          <p:nvPr/>
        </p:nvPicPr>
        <p:blipFill>
          <a:blip r:embed="rId1"/>
          <a:stretch>
            <a:fillRect/>
          </a:stretch>
        </p:blipFill>
        <p:spPr>
          <a:xfrm>
            <a:off x="9523095" y="0"/>
            <a:ext cx="238442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latin typeface="Times New Roman Bold" panose="02020503050405090304" charset="0"/>
                <a:cs typeface="Times New Roman Bold" panose="02020503050405090304" charset="0"/>
              </a:rPr>
              <a:t>Methodology:</a:t>
            </a:r>
            <a:endParaRPr lang="en-US" altLang="en-US" b="1">
              <a:latin typeface="Times New Roman Bold" panose="02020503050405090304" charset="0"/>
              <a:cs typeface="Times New Roman Bold" panose="02020503050405090304" charset="0"/>
            </a:endParaRPr>
          </a:p>
        </p:txBody>
      </p:sp>
      <p:sp>
        <p:nvSpPr>
          <p:cNvPr id="3" name="Content Placeholder 2"/>
          <p:cNvSpPr>
            <a:spLocks noGrp="1"/>
          </p:cNvSpPr>
          <p:nvPr>
            <p:ph idx="1"/>
          </p:nvPr>
        </p:nvSpPr>
        <p:spPr>
          <a:xfrm>
            <a:off x="695325" y="1466850"/>
            <a:ext cx="10515600" cy="4351338"/>
          </a:xfrm>
        </p:spPr>
        <p:txBody>
          <a:bodyPr>
            <a:normAutofit lnSpcReduction="20000"/>
          </a:bodyPr>
          <a:p>
            <a:r>
              <a:rPr lang="en-US" altLang="en-US">
                <a:latin typeface="Times New Roman Regular" panose="02020503050405090304" charset="0"/>
                <a:cs typeface="Times New Roman Regular" panose="02020503050405090304" charset="0"/>
              </a:rPr>
              <a:t>Initialize student names list.</a:t>
            </a:r>
            <a:endParaRPr lang="en-US" altLang="en-US">
              <a:latin typeface="Times New Roman Regular" panose="02020503050405090304" charset="0"/>
              <a:cs typeface="Times New Roman Regular" panose="02020503050405090304" charset="0"/>
            </a:endParaRPr>
          </a:p>
          <a:p>
            <a:r>
              <a:rPr lang="en-US" altLang="en-US">
                <a:latin typeface="Times New Roman Regular" panose="02020503050405090304" charset="0"/>
                <a:cs typeface="Times New Roman Regular" panose="02020503050405090304" charset="0"/>
              </a:rPr>
              <a:t>Define examination hall rows and columns.</a:t>
            </a:r>
            <a:endParaRPr lang="en-US" altLang="en-US">
              <a:latin typeface="Times New Roman Regular" panose="02020503050405090304" charset="0"/>
              <a:cs typeface="Times New Roman Regular" panose="02020503050405090304" charset="0"/>
            </a:endParaRPr>
          </a:p>
          <a:p>
            <a:r>
              <a:rPr lang="en-US" altLang="en-US">
                <a:latin typeface="Times New Roman Regular" panose="02020503050405090304" charset="0"/>
                <a:cs typeface="Times New Roman Regular" panose="02020503050405090304" charset="0"/>
              </a:rPr>
              <a:t>Calculate total seats available.</a:t>
            </a:r>
            <a:endParaRPr lang="en-US" altLang="en-US">
              <a:latin typeface="Times New Roman Regular" panose="02020503050405090304" charset="0"/>
              <a:cs typeface="Times New Roman Regular" panose="02020503050405090304" charset="0"/>
            </a:endParaRPr>
          </a:p>
          <a:p>
            <a:r>
              <a:rPr lang="en-US" altLang="en-US">
                <a:latin typeface="Times New Roman Regular" panose="02020503050405090304" charset="0"/>
                <a:cs typeface="Times New Roman Regular" panose="02020503050405090304" charset="0"/>
              </a:rPr>
              <a:t>Count total students.</a:t>
            </a:r>
            <a:endParaRPr lang="en-US" altLang="en-US">
              <a:latin typeface="Times New Roman Regular" panose="02020503050405090304" charset="0"/>
              <a:cs typeface="Times New Roman Regular" panose="02020503050405090304" charset="0"/>
            </a:endParaRPr>
          </a:p>
          <a:p>
            <a:r>
              <a:rPr lang="en-US" altLang="en-US">
                <a:latin typeface="Times New Roman Regular" panose="02020503050405090304" charset="0"/>
                <a:cs typeface="Times New Roman Regular" panose="02020503050405090304" charset="0"/>
              </a:rPr>
              <a:t>Assign students to seats sequentially.</a:t>
            </a:r>
            <a:endParaRPr lang="en-US" altLang="en-US">
              <a:latin typeface="Times New Roman Regular" panose="02020503050405090304" charset="0"/>
              <a:cs typeface="Times New Roman Regular" panose="02020503050405090304" charset="0"/>
            </a:endParaRPr>
          </a:p>
          <a:p>
            <a:r>
              <a:rPr lang="en-US" altLang="en-US">
                <a:latin typeface="Times New Roman Regular" panose="02020503050405090304" charset="0"/>
                <a:cs typeface="Times New Roman Regular" panose="02020503050405090304" charset="0"/>
              </a:rPr>
              <a:t>Check if seats are available.</a:t>
            </a:r>
            <a:endParaRPr lang="en-US" altLang="en-US">
              <a:latin typeface="Times New Roman Regular" panose="02020503050405090304" charset="0"/>
              <a:cs typeface="Times New Roman Regular" panose="02020503050405090304" charset="0"/>
            </a:endParaRPr>
          </a:p>
          <a:p>
            <a:r>
              <a:rPr lang="en-US" altLang="en-US">
                <a:latin typeface="Times New Roman Regular" panose="02020503050405090304" charset="0"/>
                <a:cs typeface="Times New Roman Regular" panose="02020503050405090304" charset="0"/>
              </a:rPr>
              <a:t>Mark remaining seats as vacant.</a:t>
            </a:r>
            <a:endParaRPr lang="en-US" altLang="en-US">
              <a:latin typeface="Times New Roman Regular" panose="02020503050405090304" charset="0"/>
              <a:cs typeface="Times New Roman Regular" panose="02020503050405090304" charset="0"/>
            </a:endParaRPr>
          </a:p>
          <a:p>
            <a:r>
              <a:rPr lang="en-US" altLang="en-US">
                <a:latin typeface="Times New Roman Regular" panose="02020503050405090304" charset="0"/>
                <a:cs typeface="Times New Roman Regular" panose="02020503050405090304" charset="0"/>
              </a:rPr>
              <a:t>Display seating arrangement.</a:t>
            </a:r>
            <a:endParaRPr lang="en-US" altLang="en-US">
              <a:latin typeface="Times New Roman Regular" panose="02020503050405090304" charset="0"/>
              <a:cs typeface="Times New Roman Regular" panose="02020503050405090304" charset="0"/>
            </a:endParaRPr>
          </a:p>
          <a:p>
            <a:r>
              <a:rPr lang="en-US" altLang="en-US">
                <a:latin typeface="Times New Roman Regular" panose="02020503050405090304" charset="0"/>
                <a:cs typeface="Times New Roman Regular" panose="02020503050405090304" charset="0"/>
              </a:rPr>
              <a:t>Display total students, total seats, and vacant seats.</a:t>
            </a:r>
            <a:endParaRPr lang="en-US" altLang="en-US">
              <a:latin typeface="Times New Roman Regular" panose="02020503050405090304" charset="0"/>
              <a:cs typeface="Times New Roman Regular" panose="02020503050405090304" charset="0"/>
            </a:endParaRPr>
          </a:p>
          <a:p>
            <a:r>
              <a:rPr lang="en-US" altLang="en-US">
                <a:latin typeface="Times New Roman Regular" panose="02020503050405090304" charset="0"/>
                <a:cs typeface="Times New Roman Regular" panose="02020503050405090304" charset="0"/>
              </a:rPr>
              <a:t>End process</a:t>
            </a:r>
            <a:r>
              <a:rPr lang="en-US" altLang="en-US"/>
              <a:t>.</a:t>
            </a:r>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sz="4000" b="1">
                <a:latin typeface="Times New Roman Bold" panose="02020503050405090304" charset="0"/>
                <a:cs typeface="Times New Roman Bold" panose="02020503050405090304" charset="0"/>
              </a:rPr>
              <a:t>Python code</a:t>
            </a:r>
            <a:r>
              <a:rPr lang="en-US" sz="4000"/>
              <a:t>:</a:t>
            </a:r>
            <a:endParaRPr lang="en-US" sz="4000"/>
          </a:p>
        </p:txBody>
      </p:sp>
      <p:pic>
        <p:nvPicPr>
          <p:cNvPr id="6" name="Content Placeholder 5"/>
          <p:cNvPicPr>
            <a:picLocks noChangeAspect="1"/>
          </p:cNvPicPr>
          <p:nvPr>
            <p:ph idx="1"/>
          </p:nvPr>
        </p:nvPicPr>
        <p:blipFill>
          <a:blip r:embed="rId1"/>
          <a:stretch>
            <a:fillRect/>
          </a:stretch>
        </p:blipFill>
        <p:spPr>
          <a:xfrm>
            <a:off x="4648200" y="241935"/>
            <a:ext cx="6845935" cy="63734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0" y="365125"/>
            <a:ext cx="5405120" cy="1325880"/>
          </a:xfrm>
        </p:spPr>
        <p:txBody>
          <a:bodyPr/>
          <a:p>
            <a:r>
              <a:rPr lang="en-US" sz="4000" b="1">
                <a:latin typeface="Times New Roman Bold" panose="02020503050405090304" charset="0"/>
                <a:cs typeface="Times New Roman Bold" panose="02020503050405090304" charset="0"/>
              </a:rPr>
              <a:t>OUTPUT Screenshots:</a:t>
            </a:r>
            <a:endParaRPr lang="en-US" sz="4000" b="1">
              <a:latin typeface="Times New Roman Bold" panose="02020503050405090304" charset="0"/>
              <a:cs typeface="Times New Roman Bold" panose="02020503050405090304" charset="0"/>
            </a:endParaRPr>
          </a:p>
        </p:txBody>
      </p:sp>
      <p:pic>
        <p:nvPicPr>
          <p:cNvPr id="6" name="Content Placeholder 5"/>
          <p:cNvPicPr>
            <a:picLocks noChangeAspect="1"/>
          </p:cNvPicPr>
          <p:nvPr>
            <p:ph idx="1"/>
          </p:nvPr>
        </p:nvPicPr>
        <p:blipFill>
          <a:blip r:embed="rId1"/>
          <a:stretch>
            <a:fillRect/>
          </a:stretch>
        </p:blipFill>
        <p:spPr>
          <a:xfrm>
            <a:off x="5701665" y="113030"/>
            <a:ext cx="6490335" cy="651573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b="1">
                <a:latin typeface="Times New Roman Bold" panose="02020503050405090304" charset="0"/>
                <a:cs typeface="Times New Roman Bold" panose="02020503050405090304" charset="0"/>
              </a:rPr>
              <a:t>Conclusion:</a:t>
            </a:r>
            <a:endParaRPr lang="en-US" b="1">
              <a:latin typeface="Times New Roman Bold" panose="02020503050405090304" charset="0"/>
              <a:cs typeface="Times New Roman Bold" panose="02020503050405090304" charset="0"/>
            </a:endParaRPr>
          </a:p>
        </p:txBody>
      </p:sp>
      <p:sp>
        <p:nvSpPr>
          <p:cNvPr id="5" name="Text Placeholder 4"/>
          <p:cNvSpPr>
            <a:spLocks noGrp="1"/>
          </p:cNvSpPr>
          <p:nvPr>
            <p:ph type="body" idx="1"/>
          </p:nvPr>
        </p:nvSpPr>
        <p:spPr>
          <a:xfrm>
            <a:off x="838200" y="1491615"/>
            <a:ext cx="10515600" cy="4351338"/>
          </a:xfrm>
        </p:spPr>
        <p:txBody>
          <a:bodyPr>
            <a:normAutofit lnSpcReduction="20000"/>
          </a:bodyPr>
          <a:p>
            <a:endParaRPr lang="en-US" altLang="en-US"/>
          </a:p>
          <a:p>
            <a:pPr marL="0" indent="0">
              <a:buNone/>
            </a:pPr>
            <a:r>
              <a:rPr lang="en-US" altLang="en-US">
                <a:latin typeface="Times New Roman Regular" panose="02020503050405090304" charset="0"/>
                <a:cs typeface="Times New Roman Regular" panose="02020503050405090304" charset="0"/>
              </a:rPr>
              <a:t>T</a:t>
            </a:r>
            <a:r>
              <a:rPr lang="en-US" altLang="en-US">
                <a:latin typeface="Times New Roman Regular" panose="02020503050405090304" charset="0"/>
                <a:cs typeface="Times New Roman Regular" panose="02020503050405090304" charset="0"/>
              </a:rPr>
              <a:t>he “Examination Seating Arrangement System” successfully automates the process of assigning students to seats in an examination hall. The system efficiently allocates seats, reduces manual effort, minimizes human errors, and saves time. It also provides details such as total students, total seats, and vacant seats. This project demonstrates how Python programming can be used to simplify examination management and improve accuracy in seating arrangements. Overall, the proposed system is reliable, user-friendly, and suitable for educational i</a:t>
            </a:r>
            <a:r>
              <a:rPr lang="en-US" altLang="en-US">
                <a:latin typeface="Times New Roman Regular" panose="02020503050405090304" charset="0"/>
                <a:cs typeface="Times New Roman Regular" panose="02020503050405090304" charset="0"/>
              </a:rPr>
              <a:t>nstitutions.</a:t>
            </a:r>
            <a:endParaRPr lang="en-US" altLang="en-US"/>
          </a:p>
          <a:p>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838200" y="2766060"/>
            <a:ext cx="10515600" cy="1325563"/>
          </a:xfrm>
        </p:spPr>
        <p:txBody>
          <a:bodyPr/>
          <a:p>
            <a:r>
              <a:rPr lang="en-US"/>
              <a:t>                   THANK YOU.......</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2860</Words>
  <Application>WPS Presentation</Application>
  <PresentationFormat>Widescreen</PresentationFormat>
  <Paragraphs>100</Paragraphs>
  <Slides>13</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13</vt:i4>
      </vt:variant>
    </vt:vector>
  </HeadingPairs>
  <TitlesOfParts>
    <vt:vector size="27" baseType="lpstr">
      <vt:lpstr>Arial</vt:lpstr>
      <vt:lpstr>SimSun</vt:lpstr>
      <vt:lpstr>Wingdings</vt:lpstr>
      <vt:lpstr>Times New Roman Bold</vt:lpstr>
      <vt:lpstr>Times New Roman Regular</vt:lpstr>
      <vt:lpstr>Times New Roman</vt:lpstr>
      <vt:lpstr>Calibri</vt:lpstr>
      <vt:lpstr>Helvetica Neue</vt:lpstr>
      <vt:lpstr>Microsoft YaHei</vt:lpstr>
      <vt:lpstr>汉仪旗黑</vt:lpstr>
      <vt:lpstr>Arial Unicode MS</vt:lpstr>
      <vt:lpstr>Calibri Light</vt:lpstr>
      <vt:lpstr>宋体-简</vt:lpstr>
      <vt:lpstr>Office Theme</vt:lpstr>
      <vt:lpstr>Title Page </vt:lpstr>
      <vt:lpstr>AGENDA:</vt:lpstr>
      <vt:lpstr>Abstract:</vt:lpstr>
      <vt:lpstr>Hardware Requirements:</vt:lpstr>
      <vt:lpstr>Software Requirements:</vt:lpstr>
      <vt:lpstr>Existing System:</vt:lpstr>
      <vt:lpstr>Advantages:</vt:lpstr>
      <vt:lpstr>Proposed System:</vt:lpstr>
      <vt:lpstr>Methodology:</vt:lpstr>
      <vt:lpstr>Python code:</vt:lpstr>
      <vt:lpstr>OUTPUT Screenshots:</vt:lpstr>
      <vt:lpstr>Conclusion:</vt:lpstr>
      <vt:lpstr>                   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uditha</dc:creator>
  <cp:lastModifiedBy>uditha yadav namaswamy</cp:lastModifiedBy>
  <cp:revision>5</cp:revision>
  <dcterms:created xsi:type="dcterms:W3CDTF">2026-05-31T07:52:44Z</dcterms:created>
  <dcterms:modified xsi:type="dcterms:W3CDTF">2026-05-31T07:52:44Z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1AA59BDD271F94DBE4E51A6AF1D8C5DC_41</vt:lpwstr>
  </property>
  <property fmtid="{D5CDD505-2E9C-101B-9397-08002B2CF9AE}" pid="3" name="KSOProductBuildVer">
    <vt:lpwstr>1033-12.1.25867.25867</vt:lpwstr>
  </property>
</Properties>
</file>